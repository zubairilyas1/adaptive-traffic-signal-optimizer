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Traffic Signal Timing Optimizer from Intersection Video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AI2002 Artificial Intelligence - Semester Project (Fall 2026)</a:t>
            </a:r>
          </a:p>
          <a:p>
            <a:r>
              <a:t>Path A (Software-Based)</a:t>
            </a:r>
          </a:p>
          <a:p>
            <a:r>
              <a:t>[MEMBER 1]  |  [MEMBER 2]  |  [MEMBER 3]</a:t>
            </a:r>
          </a:p>
          <a:p>
            <a:r>
              <a:t>06 December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Many intersections run fixed-time cycles set once and never adapted</a:t>
            </a:r>
          </a:p>
          <a:p>
            <a:pPr>
              <a:defRPr sz="1800"/>
            </a:pPr>
            <a:r>
              <a:t>Green time wasted on empty approaches while others queue</a:t>
            </a:r>
          </a:p>
          <a:p>
            <a:pPr>
              <a:defRPr sz="1800"/>
            </a:pPr>
            <a:r>
              <a:t>Adaptive systems need buried loop sensors - costly to install</a:t>
            </a:r>
          </a:p>
          <a:p>
            <a:pPr>
              <a:defRPr sz="1800"/>
            </a:pPr>
            <a:r>
              <a:t>Root cause: the signal does not know actual demand per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Real-World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Stakeholder: traffic engineer / municipal operator</a:t>
            </a:r>
          </a:p>
          <a:p>
            <a:pPr>
              <a:defRPr sz="1800"/>
            </a:pPr>
            <a:r>
              <a:t>Decision: what green split minimises total delay this cycle?</a:t>
            </a:r>
          </a:p>
          <a:p>
            <a:pPr>
              <a:defRPr sz="1800"/>
            </a:pPr>
            <a:r>
              <a:t>Camera-only solution needs no road works - uses existing CCTV</a:t>
            </a:r>
          </a:p>
          <a:p>
            <a:pPr>
              <a:defRPr sz="1800"/>
            </a:pPr>
            <a:r>
              <a:t>Affects daily commuters, fuel use and emissions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Detect &amp; classify vehicles with a trained model</a:t>
            </a:r>
          </a:p>
          <a:p>
            <a:pPr>
              <a:defRPr sz="1800"/>
            </a:pPr>
            <a:r>
              <a:t>Convert counts to capacity-aware demand (PCU)</a:t>
            </a:r>
          </a:p>
          <a:p>
            <a:pPr>
              <a:defRPr sz="1800"/>
            </a:pPr>
            <a:r>
              <a:t>Compute an optimal signal plan (Webster's method)</a:t>
            </a:r>
          </a:p>
          <a:p>
            <a:pPr>
              <a:defRPr sz="1800"/>
            </a:pPr>
            <a:r>
              <a:t>Quantify delay reduction vs fixed-time baseline</a:t>
            </a:r>
          </a:p>
          <a:p>
            <a:pPr>
              <a:defRPr sz="1800"/>
            </a:pPr>
            <a:r>
              <a:t>Demonstrate the complete flow in a Streamlit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53142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 -&gt; Analysis -&gt; Decision, wrapped in a Streamlit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1 - Detection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YOLOv8n single-stage detector, fine-tuned from COCO weights</a:t>
            </a:r>
          </a:p>
          <a:p>
            <a:pPr>
              <a:defRPr sz="1800"/>
            </a:pPr>
            <a:r>
              <a:t>7 classes: car, motorcycle, autorickshaw, van, tractor, bus, truck</a:t>
            </a:r>
          </a:p>
          <a:p>
            <a:pPr>
              <a:defRPr sz="1800"/>
            </a:pPr>
            <a:r>
              <a:t>Fine-tuning needed: 3 classes do not exist in COCO at all</a:t>
            </a:r>
          </a:p>
          <a:p>
            <a:pPr>
              <a:defRPr sz="1800"/>
            </a:pPr>
            <a:r>
              <a:t>Trained on Kaggle GPU (local GPU thermally throttles)</a:t>
            </a:r>
          </a:p>
          <a:p>
            <a:pPr>
              <a:defRPr sz="1800"/>
            </a:pPr>
            <a:r>
              <a:t>~34 FPS inference at 640 px on the local T1200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Three public Roboflow datasets merged into one 7-class set</a:t>
            </a:r>
          </a:p>
          <a:p>
            <a:pPr>
              <a:defRPr sz="1800"/>
            </a:pPr>
            <a:r>
              <a:t>8,513 images (train 6,746 / val 962 / test 805), 21,275 boxes</a:t>
            </a:r>
          </a:p>
          <a:p>
            <a:pPr>
              <a:defRPr sz="1800"/>
            </a:pPr>
            <a:r>
              <a:t>Unified class index via explicit remapping</a:t>
            </a:r>
          </a:p>
          <a:p>
            <a:pPr>
              <a:defRPr sz="1800"/>
            </a:pPr>
            <a:r>
              <a:t>Documented limitations: class imbalance, video-derived frames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2 - Tracking &amp; Lane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ByteTrack assigns persistent IDs -&gt; count once, not per frame</a:t>
            </a:r>
          </a:p>
          <a:p>
            <a:pPr>
              <a:defRPr sz="1800"/>
            </a:pPr>
            <a:r>
              <a:t>Geometric lane ROIs (polygon + ray-casting + hysteresis)</a:t>
            </a:r>
          </a:p>
          <a:p>
            <a:pPr>
              <a:defRPr sz="1800"/>
            </a:pPr>
            <a:r>
              <a:t>Lane assignment is geometry, not a learned task - honest scoping</a:t>
            </a:r>
          </a:p>
          <a:p>
            <a:pPr>
              <a:defRPr sz="1800"/>
            </a:pPr>
            <a:r>
              <a:t>Output: de-duplicated per-lane class counts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- PCU Weighting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Naive counting: one vehicle = one vehicle</a:t>
            </a:r>
          </a:p>
          <a:p>
            <a:pPr>
              <a:defRPr sz="1800"/>
            </a:pPr>
            <a:r>
              <a:t>But a bus occupies far more capacity than a motorcycle</a:t>
            </a:r>
          </a:p>
          <a:p>
            <a:pPr>
              <a:defRPr sz="1800"/>
            </a:pPr>
            <a:r>
              <a:t>Passenger Car Units: motorcycle 0.5 ... bus/truck 3.5</a:t>
            </a:r>
          </a:p>
          <a:p>
            <a:pPr>
              <a:defRPr sz="1800"/>
            </a:pPr>
            <a:r>
              <a:t>This is why the detector must classify, not just detect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3 - Webster's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Flow ratio y = q / s  (arrival flow / saturation flow)</a:t>
            </a:r>
          </a:p>
          <a:p>
            <a:pPr>
              <a:defRPr sz="1800"/>
            </a:pPr>
            <a:r>
              <a:t>Optimal cycle  Co = (1.5 L + 5) / (1 - Y)</a:t>
            </a:r>
          </a:p>
          <a:p>
            <a:pPr>
              <a:defRPr sz="1800"/>
            </a:pPr>
            <a:r>
              <a:t>Green split    g_i = (y_i / Y) (Co - L)</a:t>
            </a:r>
          </a:p>
          <a:p>
            <a:pPr>
              <a:defRPr sz="1800"/>
            </a:pPr>
            <a:r>
              <a:t>Clamped to practical cycle/green limits</a:t>
            </a:r>
          </a:p>
          <a:p>
            <a:pPr>
              <a:defRPr sz="1800"/>
            </a:pPr>
            <a:r>
              <a:t>Delay compared against the fixed-time plan</a:t>
            </a:r>
          </a:p>
          <a:p>
            <a:pPr>
              <a:defRPr sz="1800"/>
            </a:pPr>
            <a:r>
              <a:t>Oversaturation (Y &gt;= 1) is flagged, not silently mishandled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&amp; 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Measured demand drives a SUMO four-approach intersection (TraCI)</a:t>
            </a:r>
          </a:p>
          <a:p>
            <a:pPr>
              <a:defRPr sz="1800"/>
            </a:pPr>
            <a:r>
              <a:t>PPO agent: state = per-approach queues + phase + elapsed green</a:t>
            </a:r>
          </a:p>
          <a:p>
            <a:pPr>
              <a:defRPr sz="1800"/>
            </a:pPr>
            <a:r>
              <a:t>Action = keep/switch phase; reward = negative total queue</a:t>
            </a:r>
          </a:p>
          <a:p>
            <a:pPr>
              <a:defRPr sz="1800"/>
            </a:pPr>
            <a:r>
              <a:t>Compared against Fixed-Time and Rule-Based (actuated) controllers</a:t>
            </a:r>
          </a:p>
          <a:p>
            <a:pPr>
              <a:defRPr sz="1800"/>
            </a:pPr>
            <a:r>
              <a:t>Trained on CPU (~120k steps, no GPU thermal risk)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Adaptive Control</a:t>
            </a:r>
          </a:p>
        </p:txBody>
      </p:sp>
      <p:pic>
        <p:nvPicPr>
          <p:cNvPr id="3" name="Picture 2" descr="r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6156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PPO cuts delay vs Fixed-Time by 57.6% (normal) / 79.4% (stress)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Detection</a:t>
            </a:r>
          </a:p>
        </p:txBody>
      </p:sp>
      <p:pic>
        <p:nvPicPr>
          <p:cNvPr id="3" name="Picture 2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969264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Training curves: loss and mAP over epochs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Detection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COCO zero-shot baseline: mAP@0.5 = 0.727 (only 4 classes)</a:t>
            </a:r>
          </a:p>
          <a:p>
            <a:pPr>
              <a:defRPr sz="1800"/>
            </a:pPr>
            <a:r>
              <a:t>Fine-tuned (ours): mAP@0.5 = 0.944 (7 classes)</a:t>
            </a:r>
          </a:p>
          <a:p>
            <a:pPr>
              <a:defRPr sz="1800"/>
            </a:pPr>
            <a:r>
              <a:t>+0.217 mAP@0.5, and 3 classes COCO cannot detect</a:t>
            </a:r>
          </a:p>
          <a:p>
            <a:pPr>
              <a:defRPr sz="1800"/>
            </a:pPr>
            <a:r>
              <a:t>Per-class AP@0.5: autorickshaw 0.976, bus 0.974, van 0.957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Count Accuracy</a:t>
            </a:r>
          </a:p>
        </p:txBody>
      </p:sp>
      <p:pic>
        <p:nvPicPr>
          <p:cNvPr id="3" name="Picture 2" descr="coun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MAE 0.395 vehicles/image, 74.8% exact counts (805 images)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PCU Ablation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Same scenario, two plans: naive count vs PCU-weighted</a:t>
            </a:r>
          </a:p>
          <a:p>
            <a:pPr>
              <a:defRPr sz="1800"/>
            </a:pPr>
            <a:r>
              <a:t>Green P1: 26.1 s (naive) vs 23.0 s (PCU) - a 3.1 s shift</a:t>
            </a:r>
          </a:p>
          <a:p>
            <a:pPr>
              <a:defRPr sz="1800"/>
            </a:pPr>
            <a:r>
              <a:t>Naive counting under-serves the heavy-vehicle approach</a:t>
            </a:r>
          </a:p>
          <a:p>
            <a:pPr>
              <a:defRPr sz="1800"/>
            </a:pPr>
            <a:r>
              <a:t>Proves PCU weighting changes the recommendation, not cosmetic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Delay Reduction</a:t>
            </a:r>
          </a:p>
        </p:txBody>
      </p:sp>
      <p:pic>
        <p:nvPicPr>
          <p:cNvPr id="3" name="Picture 2" descr="delay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6156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Fixed-time 20.64 s/veh -&gt; Webster 14.01 s/veh  =  32.1% reduction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Gap - External Footage</a:t>
            </a:r>
          </a:p>
        </p:txBody>
      </p:sp>
      <p:pic>
        <p:nvPicPr>
          <p:cNvPr id="3" name="Picture 2" descr="domai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 Pakistani footage: 2.53 detections/img, all 7 classes found (qualitative)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Class imbalance (bus/van thin); per-class metrics reported</a:t>
            </a:r>
          </a:p>
          <a:p>
            <a:pPr>
              <a:defRPr sz="1800"/>
            </a:pPr>
            <a:r>
              <a:t>Video-derived frames -&gt; likely near-duplicate leakage; 0.944 optimistic</a:t>
            </a:r>
          </a:p>
          <a:p>
            <a:pPr>
              <a:defRPr sz="1800"/>
            </a:pPr>
            <a:r>
              <a:t>Domain gap: not Pakistan data; external labels unusable for mAP</a:t>
            </a:r>
          </a:p>
          <a:p>
            <a:pPr>
              <a:defRPr sz="1800"/>
            </a:pPr>
            <a:r>
              <a:t>PCU &amp; saturation flow are documented constants, not measured</a:t>
            </a:r>
          </a:p>
          <a:p>
            <a:pPr>
              <a:defRPr sz="1800"/>
            </a:pPr>
            <a:r>
              <a:t>Lane ROIs manual; Webster valid only under undersaturation</a:t>
            </a:r>
          </a:p>
          <a:p>
            <a:pPr>
              <a:defRPr sz="1800"/>
            </a:pPr>
            <a:r>
              <a:t>Assistive prototype, not a certified signal controller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small fine-tuned detector + PCU analysis recommends better signal plans</a:t>
            </a:r>
          </a:p>
          <a:p>
            <a:pPr>
              <a:defRPr sz="1800"/>
            </a:pPr>
            <a:r>
              <a:t>32.1% average delay reduction vs fixed-time on the demonstration</a:t>
            </a:r>
          </a:p>
          <a:p>
            <a:pPr>
              <a:defRPr sz="1800"/>
            </a:pPr>
            <a:r>
              <a:t>Future: hand-labelled local data, multi-intersection coordination,</a:t>
            </a:r>
          </a:p>
          <a:p>
            <a:pPr>
              <a:defRPr sz="1800"/>
            </a:pPr>
            <a:r>
              <a:t>learned lane assignment, RL adaptive control, edge ONNX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Questions?</a:t>
            </a:r>
          </a:p>
          <a:p>
            <a:pPr>
              <a:defRPr sz="1800"/>
            </a:pPr>
            <a:r>
              <a:t>Code, report and figures are organised under the project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